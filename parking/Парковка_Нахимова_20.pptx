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822960"/>
            <a:ext cx="4937760" cy="21945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68896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62672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6448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50224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7776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1552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25328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19104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12880" y="822960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68896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62672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56448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50224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37776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31552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25328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19104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12880" y="2029968"/>
            <a:ext cx="0" cy="98755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0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F2C2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754112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9CA3AF"/>
          </a:solidFill>
          <a:ln/>
        </p:spPr>
      </p:sp>
      <p:sp>
        <p:nvSpPr>
          <p:cNvPr id="27" name="Shape 25"/>
          <p:cNvSpPr/>
          <p:nvPr/>
        </p:nvSpPr>
        <p:spPr>
          <a:xfrm>
            <a:off x="8741664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D1D5DB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F2C2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0716768" y="896112"/>
            <a:ext cx="310896" cy="777240"/>
          </a:xfrm>
          <a:prstGeom prst="roundRect">
            <a:avLst>
              <a:gd name="adj" fmla="val 17647"/>
            </a:avLst>
          </a:prstGeom>
          <a:solidFill>
            <a:srgbClr val="9CA3AF"/>
          </a:solidFill>
          <a:ln/>
        </p:spPr>
      </p:sp>
      <p:sp>
        <p:nvSpPr>
          <p:cNvPr id="30" name="Shape 28"/>
          <p:cNvSpPr/>
          <p:nvPr/>
        </p:nvSpPr>
        <p:spPr>
          <a:xfrm>
            <a:off x="6675120" y="3383280"/>
            <a:ext cx="137160" cy="109728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0" y="3429000"/>
            <a:ext cx="2926080" cy="128016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9144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1463040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38404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МКД по адресу: ул. Нахимова, д. 20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2704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527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417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48716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377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и понятие благоустройства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44728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440740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4407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536752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257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 и материалы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309360" y="141732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46520" y="152704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1527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1417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заработной платы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309360" y="237744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248716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2487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2377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 проекта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309360" y="333756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344728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выполнения работ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6309360" y="4297680"/>
            <a:ext cx="539496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4407408"/>
            <a:ext cx="512064" cy="512064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4407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Выполнение задач и итог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ул. Нахимова, д. 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 здания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Многоквартирный жилой дом, 9 этажей, 4 подъезда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(≈ 330 жителей)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двора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2 600 м²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Существующая парковка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мест, асфальт, износ ≈ 60 %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Газон у парковки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450 м², 6 деревьев, кустарник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Въезд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2011 г., привод неисправен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04088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двора (сейчас)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040880" y="1828800"/>
            <a:ext cx="4572000" cy="91440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04088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ЖИЛОЙ ДОМ  ·  Нахимова, 20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040880" y="3200400"/>
            <a:ext cx="4572000" cy="146304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10" name="Shape 7"/>
          <p:cNvSpPr/>
          <p:nvPr/>
        </p:nvSpPr>
        <p:spPr>
          <a:xfrm>
            <a:off x="704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9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4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0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5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1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6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81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07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58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8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596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850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104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358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612880" y="3200400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4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9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54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80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5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31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6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81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07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32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58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83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08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34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596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850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104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1358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1612880" y="4005072"/>
            <a:ext cx="0" cy="65836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418320" y="3200400"/>
            <a:ext cx="2194560" cy="1463040"/>
          </a:xfrm>
          <a:prstGeom prst="rect">
            <a:avLst/>
          </a:prstGeom>
          <a:solidFill>
            <a:srgbClr val="5B8C51"/>
          </a:solidFill>
          <a:ln/>
        </p:spPr>
      </p:sp>
      <p:sp>
        <p:nvSpPr>
          <p:cNvPr id="49" name="Shape 46"/>
          <p:cNvSpPr/>
          <p:nvPr/>
        </p:nvSpPr>
        <p:spPr>
          <a:xfrm>
            <a:off x="95554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269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1" name="Shape 48"/>
          <p:cNvSpPr/>
          <p:nvPr/>
        </p:nvSpPr>
        <p:spPr>
          <a:xfrm>
            <a:off x="106984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69980" y="3639312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40880" y="4736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Слева: 18 мест · справа: газон 450 м²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7040880" y="5394960"/>
            <a:ext cx="2377440" cy="109728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555480" y="5257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(въезд)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Яндекс Картах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754880" cy="3291840"/>
          </a:xfrm>
          <a:prstGeom prst="rect">
            <a:avLst/>
          </a:prstGeom>
        </p:spPr>
      </p:pic>
      <p:pic>
        <p:nvPicPr>
          <p:cNvPr id="6" name="Image 1" descr="/home/user/mirigrushek/parking/img/pan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5852160" cy="33009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54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Спутниковый снимок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577840" y="4754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Панорама с ул. Нахимова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Санкт-Петербург, ул. Нахимова, д. 20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95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автомобилей у жителей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парковочных мест сейчас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сегодня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мест: ≈ 5 машин на 1 место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 на газоне и тротуарах — вытоптанная трава, грязь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Блокируется проезд пожарной и скорой помощи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Неисправный шлагбаум — во двор заезжают посторонние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освещения и водоотвода, лужи после дождя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количество парковочных мест на придомовой территории МКД ул. Нахимова, 20 с 18 до 38.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территорию и получить решение общего собрания собственников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озеленение (газон 450 м², 6 деревьев) и старый бордюр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асфальтовое покрытие на 20 новых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Заменить шлагбаум, сделать освещение и водоотвод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 работ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303520" cy="155448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32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79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325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72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218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164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111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57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950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896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843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789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7360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6824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628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575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32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79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325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272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218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64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111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7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950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6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843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789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7360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6824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628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575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521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06470" y="1828800"/>
            <a:ext cx="2545690" cy="1554480"/>
          </a:xfrm>
          <a:prstGeom prst="rect">
            <a:avLst/>
          </a:prstGeom>
          <a:solidFill>
            <a:srgbClr val="5B8C51"/>
          </a:solidFill>
          <a:ln/>
        </p:spPr>
      </p:sp>
      <p:sp>
        <p:nvSpPr>
          <p:cNvPr id="46" name="Shape 44"/>
          <p:cNvSpPr/>
          <p:nvPr/>
        </p:nvSpPr>
        <p:spPr>
          <a:xfrm>
            <a:off x="3443630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7" name="Shape 45"/>
          <p:cNvSpPr/>
          <p:nvPr/>
        </p:nvSpPr>
        <p:spPr>
          <a:xfrm>
            <a:off x="4124858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86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49" name="Shape 47"/>
          <p:cNvSpPr/>
          <p:nvPr/>
        </p:nvSpPr>
        <p:spPr>
          <a:xfrm>
            <a:off x="5487314" y="2295144"/>
            <a:ext cx="320040" cy="320040"/>
          </a:xfrm>
          <a:prstGeom prst="ellipse">
            <a:avLst/>
          </a:prstGeom>
          <a:solidFill>
            <a:srgbClr val="3F6B3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мест + газон 450 м²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309360" y="1280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309360" y="1828800"/>
            <a:ext cx="5303520" cy="155448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53" name="Shape 51"/>
          <p:cNvSpPr/>
          <p:nvPr/>
        </p:nvSpPr>
        <p:spPr>
          <a:xfrm>
            <a:off x="630936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4892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8849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2805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86762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00719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14675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8632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42589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6545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0502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4458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98415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372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6328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40285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54242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8198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2155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6112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0068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4025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7981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51938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5895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79851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93808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7765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1721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356783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496349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635916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75482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915048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054615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194181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333747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473314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612880" y="1828800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0936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4892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8849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805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6762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00719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14675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8632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42589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56545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70502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84458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415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12372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26328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40285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54242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8198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82155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96112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0068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4025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37981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1938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65895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79851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93808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07765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21721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56783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496349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635916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775482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915048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1054615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194181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1333747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473314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612880" y="2683764"/>
            <a:ext cx="0" cy="6995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мест (в т.ч. 2 места для инвалидов)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11329416" y="1828800"/>
            <a:ext cx="283464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134" name="Text 132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Порубочный билет и компенсационное озеленение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 — ≈ 3,1 млн 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недель работ (июнь — июль)</a:t>
            </a:r>
            <a:endParaRPr lang="en-US" sz="1400" dirty="0"/>
          </a:p>
        </p:txBody>
      </p:sp>
      <p:sp>
        <p:nvSpPr>
          <p:cNvPr id="135" name="Text 133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136" name="Text 134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мест (рост на 111 %)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автоматический шлагбаум с GSM-управлением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Свободные проезды для спецтехники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65115, 15 т (вывоз грунта)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Автовышка 18 м (обрезка/спил деревьев)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бензопилы,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299 600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299 600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3840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— средние ставки аренды спецтехники в регионе, 2026 г. Топливо и работа машинистов включены.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Арборист (спил деревьев)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624 650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9 человек, пик — 7 человек на объекте одновременно.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озеленения, корчевание 6 пней, срезка грунта 90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бордюра и шлагбаума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450 м², песок 90 м³, щебень 113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450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562 500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140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30 м + дождеприёмник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автомат. с GSM-модулем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2 опоры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(термопластик) + 2 знака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 (15 кустов, кашпо)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2 003 600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299 600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624 650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146 393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3 074 243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21 349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(144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153 712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 Источник — фонд текущего ремонта / целевой сбор по решению ОСС.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1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16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02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02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6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64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8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88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5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50880" y="1691640"/>
            <a:ext cx="0" cy="420624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проект, согласования, порубочный билет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856232"/>
            <a:ext cx="3048000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Спил деревьев, корчевание, демонтаж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02880" y="2441448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Земляные работы и вывоз грунта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64880" y="3026664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326880" y="3611880"/>
            <a:ext cx="1219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3680" y="4197096"/>
            <a:ext cx="457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и освещение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393680" y="4782312"/>
            <a:ext cx="609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2943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850880" y="5367528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 (апрель–май);  строительство — 5 недель, 25 рабочих дней (июнь — начало июля). Работы ведутся с 8:00 до 20:00, двор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Территория обследована, порядок решения ОСС определён (ст. 44 ЖК РФ)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Определён объём демонтажа: газон 450 м², 6 деревьев, 120 м бордюра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 на 20 новых мест: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Подобраны шлагбаум с GSM, 2 опоры освещения и водоотвод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9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→ 38</a:t>
            </a:r>
            <a:endParaRPr lang="en-US" sz="66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3 074 243 ₽  ·  9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количество парковочных мест увеличено на 111 %.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2026-09-30T08:51:23Z</dcterms:created>
  <dcterms:modified xsi:type="dcterms:W3CDTF">2026-09-30T08:51:23Z</dcterms:modified>
</cp:coreProperties>
</file>