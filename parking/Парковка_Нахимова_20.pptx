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881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общего имущества МКД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630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Увеличение количества парковочных мест на придомовой территории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ЖК «Морская рапсодия», Санкт-Петербург, ул. Нахимова, д. 20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Выполнил(а): ______________________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г.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объекта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на карте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фасады и улицы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двор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128016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137160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128016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парковочных мест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09360" y="1993392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2084832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46520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199339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и что получится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09360" y="2706624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6446520" y="2798064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46520" y="2798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2706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3419856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2" name="Shape 40"/>
          <p:cNvSpPr/>
          <p:nvPr/>
        </p:nvSpPr>
        <p:spPr>
          <a:xfrm>
            <a:off x="6446520" y="3511296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46520" y="3511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132320" y="341985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Заработная плата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09360" y="4133088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6520" y="4224528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4224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132320" y="4133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09360" y="4846320"/>
            <a:ext cx="5394960" cy="603504"/>
          </a:xfrm>
          <a:prstGeom prst="roundRect">
            <a:avLst>
              <a:gd name="adj" fmla="val 15152"/>
            </a:avLst>
          </a:prstGeom>
          <a:solidFill>
            <a:srgbClr val="F3F4F6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6520" y="4937760"/>
            <a:ext cx="475488" cy="475488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46520" y="4937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132320" y="484632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Описание объекта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Санкт-Петербург, Василеостровский р-н, МО Гавань, ул. Нахимова, д.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Комплекс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ЖК «Морская рапсодия»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Год постройки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2010, индивидуальный проект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Этажность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этажей (с техническим — 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Конструкция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монолитный, перекрытия железобетонные; газа 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Подъезды / лифты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подъездов, 13 лифтов (7 пасс. + 6 груз.)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Квартир / жителей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квартир, 683 жителя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дома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общая 42 176 м², жилая 30 055 м², нежилая 9 022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Управление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ТСЖ «Нахимова 20»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Парковка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подземный паркинг + открытая во дворе; въезды со шлагбаумами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home/user/mirigrushek/parking/img/pa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0160"/>
            <a:ext cx="4389120" cy="24780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Фасад с ул. Нахимова (Яндекс Панорамы)</a:t>
            </a:r>
            <a:endParaRPr lang="en-US" sz="1200" dirty="0"/>
          </a:p>
        </p:txBody>
      </p:sp>
      <p:pic>
        <p:nvPicPr>
          <p:cNvPr id="8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4160520"/>
            <a:ext cx="4389120" cy="2011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2ГИС (карточка дома, сентябрь 2026), реестр домов (Домклик/ЦИАН), Яндекс Карты. Этажность в источниках: 25 (2ГИС) и 26 (реестр).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 на карте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/home/user/mirigrushek/parking/img/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730752"/>
          </a:xfrm>
          <a:prstGeom prst="rect">
            <a:avLst/>
          </a:prstGeom>
        </p:spPr>
      </p:pic>
      <p:pic>
        <p:nvPicPr>
          <p:cNvPr id="6" name="Image 1" descr="/home/user/mirigrushek/parking/img/map_z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730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Спутник: дом 20 на углу ул. Нахимова и Галерного проезда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квартала: двор между д. 20, 20к2 и 22, въезды со шлагбаумами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Карты (yandex.ru/maps),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фасады и улицы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5" name="Image 0" descr="/home/user/mirigrushek/parking/img/pano_e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86400" cy="3374136"/>
          </a:xfrm>
          <a:prstGeom prst="rect">
            <a:avLst/>
          </a:prstGeom>
        </p:spPr>
      </p:pic>
      <p:pic>
        <p:nvPicPr>
          <p:cNvPr id="6" name="Image 1" descr="/home/user/mirigrushek/parking/img/pano_galer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80160"/>
            <a:ext cx="5303520" cy="28895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Восточная часть дома, ул. Нахимова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42245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 с Галерного проезда: парковка вдоль проезда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Яндекс Панорамы,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Фото: двор дома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5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440680" cy="2286000"/>
          </a:xfrm>
          <a:prstGeom prst="rect">
            <a:avLst/>
          </a:prstGeom>
        </p:spPr>
      </p:pic>
      <p:pic>
        <p:nvPicPr>
          <p:cNvPr id="6" name="Image 1" descr="/home/user/mirigrushek/parking/img/yard_fac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234440"/>
            <a:ext cx="5440680" cy="2286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Внутридворовый проезд: машины стоят по обе стороны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172200" y="35661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Южный фасад и палисадник вдоль проезда</a:t>
            </a:r>
            <a:endParaRPr lang="en-US" sz="1200" dirty="0"/>
          </a:p>
        </p:txBody>
      </p:sp>
      <p:pic>
        <p:nvPicPr>
          <p:cNvPr id="9" name="Image 2" descr="/home/user/mirigrushek/parking/img/yard_wint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977640"/>
            <a:ext cx="5440680" cy="1920240"/>
          </a:xfrm>
          <a:prstGeom prst="rect">
            <a:avLst/>
          </a:prstGeom>
        </p:spPr>
      </p:pic>
      <p:pic>
        <p:nvPicPr>
          <p:cNvPr id="10" name="Image 3" descr="/home/user/mirigrushek/parking/img/yard_ent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3977640"/>
            <a:ext cx="544068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зимой: стихийная парковка на проездах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172200" y="5943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Восточный въезд и огороженная парковка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понятие благоустройства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69280" cy="2103120"/>
          </a:xfrm>
          <a:prstGeom prst="roundRect">
            <a:avLst>
              <a:gd name="adj" fmla="val 5217"/>
            </a:avLst>
          </a:prstGeom>
          <a:solidFill>
            <a:srgbClr val="2628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46304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комплекс мероприятий по содержанию и развитию территории, направленных на повышение комфорта и безопасности жителей (п. 36 ст. 1 ГрК РФ). Придомовая территория входит в состав общего имущества МКД (ст. 36 ЖК РФ), решение о её изменении принимает общее собрание собственников (ст. 44 ЖК РФ).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квартир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+107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4663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 по проекту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видно на снимках и панорамах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9202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стоят вдоль внутридворового проезда с обеих сторон — проезд сужается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парковка стихийная, без разметки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парковка у д. 20к2 заполнена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Машины паркуются и вдоль Галерного проезда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400 квартир мест во дворе недостаточно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2C2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 </a:t>
            </a:r>
            <a:pPr indent="0" marL="0">
              <a:buNone/>
            </a:pPr>
            <a:r>
              <a:rPr lang="en-US" sz="2000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обустроить 107 новых парковочных мест во дворе МКД ул. Нахимова, 20 и поставить шлагбаум на восточном въезде.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Обследовать двор по снимкам и на месте, получить решение ОСС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98064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2980944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Демонтировать газон ≈ 1 340 м² в зонах новых мест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5230368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30368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30368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Устроить основание и асфальт на 107 мест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96912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79792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79792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шлагбаум, освещение, водоотвод, разметку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546336" y="2743200"/>
            <a:ext cx="2057400" cy="3291840"/>
          </a:xfrm>
          <a:prstGeom prst="roundRect">
            <a:avLst>
              <a:gd name="adj" fmla="val 4444"/>
            </a:avLst>
          </a:prstGeom>
          <a:solidFill>
            <a:srgbClr val="F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729216" y="2926080"/>
            <a:ext cx="640080" cy="640080"/>
          </a:xfrm>
          <a:prstGeom prst="ellipse">
            <a:avLst/>
          </a:prstGeom>
          <a:solidFill>
            <a:srgbClr val="2628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29216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729216" y="4069080"/>
            <a:ext cx="1737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Рассчитать смету, зарплату, технику и график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парковочных мест во дворе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pic>
        <p:nvPicPr>
          <p:cNvPr id="5" name="Image 0" descr="/home/user/mirigrushek/parking/img/plan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406640" cy="5129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0" y="1234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места: 107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329184" cy="256032"/>
          </a:xfrm>
          <a:prstGeom prst="rect">
            <a:avLst/>
          </a:prstGeom>
          <a:solidFill>
            <a:srgbClr val="F2C2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0" y="1783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Вдоль фасада — 38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0" y="2304288"/>
            <a:ext cx="329184" cy="2560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0" y="22402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у 20к2 — 18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0" y="2761488"/>
            <a:ext cx="329184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0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газона д. 22 — 42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0" y="3218688"/>
            <a:ext cx="329184" cy="256032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0" y="3154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западного въезда — 9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0" y="3675888"/>
            <a:ext cx="329184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0" y="36118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МГН (в ряду у фасада)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4133088"/>
            <a:ext cx="329184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0" y="4069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шлагбаум (восточный въезд)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6177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Места 2,5 × 5 м, перпендикулярно проезду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Проезды 6 м сохраняются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нового покрытия ≈ 1 340 м²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Размещение — по схеме заказчика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Подложка: Яндекс Карты. Масштаб 1 px ≈ 0,3 м. Схема — проектное предложение, требует геодезической съёмки и решения ОСС.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и что получится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800" dirty="0"/>
          </a:p>
        </p:txBody>
      </p:sp>
      <p:pic>
        <p:nvPicPr>
          <p:cNvPr id="6" name="Image 0" descr="/home/user/mirigrushek/parking/img/yard_w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45920"/>
            <a:ext cx="5303520" cy="2103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0936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C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СТАНЕТ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1645920"/>
            <a:ext cx="5303520" cy="1737360"/>
          </a:xfrm>
          <a:prstGeom prst="rect">
            <a:avLst/>
          </a:prstGeom>
          <a:solidFill>
            <a:srgbClr val="3A3D44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56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04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51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98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45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93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40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87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35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82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29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772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245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718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5191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664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8138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611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084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557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4030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504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6977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450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9923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396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2870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4343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5816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7289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8762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02360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7092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31824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46556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612880" y="1645920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09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56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604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751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898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045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3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40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487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635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82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929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0772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2245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718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5191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6664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8138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9611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1084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2557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4030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5504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6977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8450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9923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1396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2870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4343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105816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7289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8762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102360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117092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131824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146556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11612880" y="2601468"/>
            <a:ext cx="0" cy="7818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6309360" y="34564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новых мест (в т.ч. 2 для МГН)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6309360" y="1645920"/>
            <a:ext cx="294640" cy="1737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54864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</a:t>
            </a:r>
            <a:endParaRPr lang="en-US" sz="1600" dirty="0"/>
          </a:p>
        </p:txBody>
      </p:sp>
      <p:sp>
        <p:nvSpPr>
          <p:cNvPr id="86" name="Text 83"/>
          <p:cNvSpPr txBox="1"/>
          <p:nvPr/>
        </p:nvSpPr>
        <p:spPr>
          <a:xfrm>
            <a:off x="54864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ОСС (≥ 2/3 голосов) и проект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Геодезическая съёмка и согласования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Подрядчик, техника, материалы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 недель (подготовка + работы)</a:t>
            </a:r>
            <a:endParaRPr lang="en-US" sz="1400" dirty="0"/>
          </a:p>
        </p:txBody>
      </p:sp>
      <p:sp>
        <p:nvSpPr>
          <p:cNvPr id="87" name="Text 84"/>
          <p:cNvSpPr txBox="1"/>
          <p:nvPr/>
        </p:nvSpPr>
        <p:spPr>
          <a:xfrm>
            <a:off x="63093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получится</a:t>
            </a:r>
            <a:endParaRPr lang="en-US" sz="1600" dirty="0"/>
          </a:p>
        </p:txBody>
      </p:sp>
      <p:sp>
        <p:nvSpPr>
          <p:cNvPr id="88" name="Text 85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+107 новых мест в 4 зонах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на восточном въезде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Свободный проезд для скорой и пожарной техники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Освещение, водоотвод, разметка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Компенсационное озеленение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Техника и механизмы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914400"/>
                <a:gridCol w="100584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Кол-во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Экскаватор-погрузчик JCB 3CX (с машинистом)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Самосвал КАМАЗ 65115 (вывоз грунта 871 м³)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рейс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Каток дорожный 6 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Асфальтоукладчик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маш.-ч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Виброплита, инструмент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техника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1 075 800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371600"/>
            <a:ext cx="3017520" cy="2194560"/>
          </a:xfrm>
          <a:prstGeom prst="roundRect">
            <a:avLst>
              <a:gd name="adj" fmla="val 5000"/>
            </a:avLst>
          </a:prstGeom>
          <a:solidFill>
            <a:srgbClr val="26282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1 075 800 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техники с операторами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 заработной платы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  <a:gridCol w="822960"/>
                <a:gridCol w="146304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Должность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 ₽/день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ФОТ,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Прораб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Дорожные 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Разнорабочие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Электромонтажник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Фонд оплаты труда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Страховые взносы 30 %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зарплата с взносами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1 283 750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20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82880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 = численность × дни × дневная ставка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Взносы = ФОТ × 30 %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Бригада: 11 человек.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Смета проекта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Материалы и работы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Сумма, 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8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Демонтаж газона 1340 м², выемка грунта 871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646 550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Геотекстиль 1340 м², песок 402 м³, щебень 335 м³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1 554 400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Асфальтобетон в 2 слоя, 1340 м²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1 675 000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Бордюр БР 100.30.15 с установкой, 420 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Водоотвод: лотки 90 м + 3 дождеприёмника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Освещение: 6 опор LED с кабелем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 107 мест (термопластик) + знаки МГН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161 800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Шлагбаум автомат. с GSM на восточном въезде + монтаж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Компенсационное озеленение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Геодезия, проект и согласования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Материалы и работы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1325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5 578 750 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9669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1 075 800 ₽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Зарплата с взносами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1 283 750 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 5 %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396 915 ₽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0" y="37033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2628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 ПО СМЕТЕ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160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8 335 215 ₽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52578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20 838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квартиры (400 кв.) или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77 899 ₽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одно новое место.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Расчётные значения: объёмы — по площади со схемы, цены — средние рыночные для СПб, 2026 г.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выполнения работ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155680" y="365760"/>
            <a:ext cx="594360" cy="59436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155680" y="365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1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16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7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02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02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64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64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88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088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50880" y="1280160"/>
            <a:ext cx="76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Нед. 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50880" y="1691640"/>
            <a:ext cx="0" cy="384048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ОСС, геодезия, проект, согласования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1856232"/>
            <a:ext cx="3048000" cy="329184"/>
          </a:xfrm>
          <a:prstGeom prst="roundRect">
            <a:avLst>
              <a:gd name="adj" fmla="val 22222"/>
            </a:avLst>
          </a:prstGeom>
          <a:solidFill>
            <a:srgbClr val="9CA3A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23682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Демонтаж газона, земляные работы, вывоз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02880" y="2441448"/>
            <a:ext cx="12192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953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Основание: песок, щебень, бордюр, водоотвод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869680" y="3026664"/>
            <a:ext cx="1371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Асфальтирование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241280" y="3611880"/>
            <a:ext cx="6096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1239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и освещение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936480" y="4197096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09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Разметка, озеленение, приёмка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850880" y="4782312"/>
            <a:ext cx="762000" cy="329184"/>
          </a:xfrm>
          <a:prstGeom prst="roundRect">
            <a:avLst>
              <a:gd name="adj" fmla="val 22222"/>
            </a:avLst>
          </a:prstGeom>
          <a:solidFill>
            <a:srgbClr val="F2C2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— 4 недели; строительство — 5 недель (25 рабочих дней), по зонам. Работы с 8:00 до 20:00, проезд во дворе перекрывается частично.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28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 задач и 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1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Двор обследован по снимкам и панорамам Яндекс Карт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39112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39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391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2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Размещено 107 новых мест в 4 зонах двора (≈ 1 340 м²)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523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523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3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Спроектировано покрытие: основание + асфальт в 2 слоя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655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4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Шлагбаум на въезде, освещение, водоотвод, места для МГН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78808"/>
            <a:ext cx="502920" cy="502920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82E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17880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5 выполнена.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Рассчитаны смета, ЗП, техника и график — 9 недель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12801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+107</a:t>
            </a:r>
            <a:endParaRPr lang="en-US" sz="72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5603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новых парковочных мест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291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8 335 215 ₽  ·  9 недель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0233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+107 мест, въезд под контролем шлагбаума.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2026-09-30T09:35:48Z</dcterms:created>
  <dcterms:modified xsi:type="dcterms:W3CDTF">2026-09-30T09:35:48Z</dcterms:modified>
</cp:coreProperties>
</file>