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rigrushek/parking/img/pa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0"/>
            <a:ext cx="57881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 общего имущества МКД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4630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Увеличение количества парковочных мест на придомовой территории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7490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ЖК «Морская рапсодия», Санкт-Петербург, ул. Нахимова, д. 20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93776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Выполнил(а): ______________________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Руководитель: ____________________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г.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37160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1371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8016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объекта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1993392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2084832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1993392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 на карте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2706624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2798064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798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706624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Фото: фасады и улицы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3419856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" y="3511296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35112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419856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Фото: двор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4133088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22" name="Shape 20"/>
          <p:cNvSpPr/>
          <p:nvPr/>
        </p:nvSpPr>
        <p:spPr>
          <a:xfrm>
            <a:off x="685800" y="4224528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4224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13308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8640" y="4846320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26" name="Shape 24"/>
          <p:cNvSpPr/>
          <p:nvPr/>
        </p:nvSpPr>
        <p:spPr>
          <a:xfrm>
            <a:off x="685800" y="493776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4937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71600" y="484632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09360" y="1280160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30" name="Shape 28"/>
          <p:cNvSpPr/>
          <p:nvPr/>
        </p:nvSpPr>
        <p:spPr>
          <a:xfrm>
            <a:off x="6446520" y="137160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46520" y="1371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132320" y="128016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парковочных мест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309360" y="1993392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34" name="Shape 32"/>
          <p:cNvSpPr/>
          <p:nvPr/>
        </p:nvSpPr>
        <p:spPr>
          <a:xfrm>
            <a:off x="6446520" y="2084832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46520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132320" y="1993392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 и что получится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09360" y="2706624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38" name="Shape 36"/>
          <p:cNvSpPr/>
          <p:nvPr/>
        </p:nvSpPr>
        <p:spPr>
          <a:xfrm>
            <a:off x="6446520" y="2798064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46520" y="2798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7132320" y="2706624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09360" y="3419856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42" name="Shape 40"/>
          <p:cNvSpPr/>
          <p:nvPr/>
        </p:nvSpPr>
        <p:spPr>
          <a:xfrm>
            <a:off x="6446520" y="3511296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46520" y="35112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7132320" y="3419856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Заработная плата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309360" y="4133088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46" name="Shape 44"/>
          <p:cNvSpPr/>
          <p:nvPr/>
        </p:nvSpPr>
        <p:spPr>
          <a:xfrm>
            <a:off x="6446520" y="4224528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46520" y="4224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7132320" y="413308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Смета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309360" y="4846320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6520" y="493776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46520" y="4937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7132320" y="484632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Сроки и итог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Описание объекта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89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Адрес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Санкт-Петербург, Василеостровский р-н, МО Гавань, ул. Нахимова, д. 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Комплекс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ЖК «Морская рапсодия»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Год постройки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2010, индивидуальный проект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Этажность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этажей (с техническим — 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Конструкция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монолитный, перекрытия железобетонные; газа нет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Подъезды / лифты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подъездов, 13 лифтов (7 пасс. + 6 груз.)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Квартир / жителей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квартир, 683 жителя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Площадь дома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общая 42 176 м², жилая 30 055 м², нежилая 9 022 м²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Управление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ТСЖ «Нахимова 20»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Парковка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подземный паркинг + открытая во дворе; въезды со шлагбаумами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/home/user/mirigrushek/parking/img/pan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280160"/>
            <a:ext cx="4389120" cy="247802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223760" y="3794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Фасад с ул. Нахимова (Яндекс Панорамы)</a:t>
            </a:r>
            <a:endParaRPr lang="en-US" sz="1200" dirty="0"/>
          </a:p>
        </p:txBody>
      </p:sp>
      <p:pic>
        <p:nvPicPr>
          <p:cNvPr id="8" name="Image 1" descr="/home/user/mirigrushek/parking/img/yard_facad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23760" y="4160520"/>
            <a:ext cx="4389120" cy="20116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2ГИС (карточка дома, сентябрь 2026), реестр домов (Домклик/ЦИАН), Яндекс Карты. Этажность в источниках: 25 (2ГИС) и 26 (реестр).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Объект на карте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pic>
        <p:nvPicPr>
          <p:cNvPr id="5" name="Image 0" descr="/home/user/mirigrushek/parking/img/s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730752"/>
          </a:xfrm>
          <a:prstGeom prst="rect">
            <a:avLst/>
          </a:prstGeom>
        </p:spPr>
      </p:pic>
      <p:pic>
        <p:nvPicPr>
          <p:cNvPr id="6" name="Image 1" descr="/home/user/mirigrushek/parking/img/map_z1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394960" cy="3730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Спутник: дом 20 на углу ул. Нахимова и Галерного проезда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21792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квартала: двор между д. 20, 20к2 и 22, въезды со шлагбаумами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Яндекс Карты (yandex.ru/maps),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Фото: фасады и улицы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pic>
        <p:nvPicPr>
          <p:cNvPr id="5" name="Image 0" descr="/home/user/mirigrushek/parking/img/pano_ea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486400" cy="3374136"/>
          </a:xfrm>
          <a:prstGeom prst="rect">
            <a:avLst/>
          </a:prstGeom>
        </p:spPr>
      </p:pic>
      <p:pic>
        <p:nvPicPr>
          <p:cNvPr id="6" name="Image 1" descr="/home/user/mirigrushek/parking/img/pano_galern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80160"/>
            <a:ext cx="5303520" cy="288950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Восточная часть дома, ул. Нахимова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309360" y="422452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 с Галерного проезда: парковка вдоль проезда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Яндекс Панорамы,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Фото: двор дома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pic>
        <p:nvPicPr>
          <p:cNvPr id="5" name="Image 0" descr="/home/user/mirigrushek/parking/img/yard_w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34440"/>
            <a:ext cx="5440680" cy="2286000"/>
          </a:xfrm>
          <a:prstGeom prst="rect">
            <a:avLst/>
          </a:prstGeom>
        </p:spPr>
      </p:pic>
      <p:pic>
        <p:nvPicPr>
          <p:cNvPr id="6" name="Image 1" descr="/home/user/mirigrushek/parking/img/yard_facad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234440"/>
            <a:ext cx="5440680" cy="2286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5661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Внутридворовый проезд: машины стоят по обе стороны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172200" y="35661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Южный фасад и палисадник вдоль проезда</a:t>
            </a:r>
            <a:endParaRPr lang="en-US" sz="1200" dirty="0"/>
          </a:p>
        </p:txBody>
      </p:sp>
      <p:pic>
        <p:nvPicPr>
          <p:cNvPr id="9" name="Image 2" descr="/home/user/mirigrushek/parking/img/yard_winte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8640" y="3977640"/>
            <a:ext cx="5440680" cy="1920240"/>
          </a:xfrm>
          <a:prstGeom prst="rect">
            <a:avLst/>
          </a:prstGeom>
        </p:spPr>
      </p:pic>
      <p:pic>
        <p:nvPicPr>
          <p:cNvPr id="10" name="Image 3" descr="/home/user/mirigrushek/parking/img/yard_entry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72200" y="3977640"/>
            <a:ext cx="5440680" cy="192024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48640" y="594360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Двор зимой: стихийная парковка на проездах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6172200" y="594360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Восточный въезд и огороженная парковка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Актуальность и понятие благоустройства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669280" cy="2103120"/>
          </a:xfrm>
          <a:prstGeom prst="roundRect">
            <a:avLst>
              <a:gd name="adj" fmla="val 5217"/>
            </a:avLst>
          </a:prstGeom>
          <a:solidFill>
            <a:srgbClr val="2628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46304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комплекс мероприятий по содержанию и развитию территории, направленных на повышение комфорта и безопасности жителей (п. 36 ст. 1 ГрК РФ). Придомовая территория входит в состав общего имущества МКД (ст. 36 ЖК РФ), решение о её изменении принимает общее собрание собственников (ст. 44 ЖК РФ).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400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квартир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683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жителя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+73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мест по проекту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13716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видно на снимках и панорамах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192024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Машины стоят вдоль внутридворового проезда с обеих сторон — проезд сужается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Зимой парковка стихийная, без разметки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Открытая парковка у д. 20к2 заполнена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Машины паркуются и вдоль Галерного проезда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400 квартир мест во дворе недостаточно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 и задачи проекта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2C2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2801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ЦЕЛЬ:  </a:t>
            </a:r>
            <a:pPr indent="0" marL="0">
              <a:buNone/>
            </a:pPr>
            <a:r>
              <a:rPr lang="en-US" sz="2000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обустроить 73 новых парковочных мест во дворе МКД ул. Нахимова, 20 и поставить шлагбаум на восточном въезде.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Обследовать двор по снимкам и на месте, получить решение ОСС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98064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2980944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80944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2980944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980944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Демонтировать газон ≈ 915 м² в зонах новых мест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47488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18" name="Shape 16"/>
          <p:cNvSpPr/>
          <p:nvPr/>
        </p:nvSpPr>
        <p:spPr>
          <a:xfrm>
            <a:off x="5230368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30368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230368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0368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Устроить основание и асфальт на 73 мест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296912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23" name="Shape 21"/>
          <p:cNvSpPr/>
          <p:nvPr/>
        </p:nvSpPr>
        <p:spPr>
          <a:xfrm>
            <a:off x="7479792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479792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479792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79792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Поставить шлагбаум, освещение, водоотвод, разметку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546336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28" name="Shape 26"/>
          <p:cNvSpPr/>
          <p:nvPr/>
        </p:nvSpPr>
        <p:spPr>
          <a:xfrm>
            <a:off x="9729216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29216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9729216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729216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Рассчитать смету, зарплату, технику и график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парковочных мест во дворе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pic>
        <p:nvPicPr>
          <p:cNvPr id="5" name="Image 0" descr="/home/user/mirigrushek/parking/img/plan_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406640" cy="51297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0" y="12344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Новые места: 73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329184" cy="256032"/>
          </a:xfrm>
          <a:prstGeom prst="rect">
            <a:avLst/>
          </a:prstGeom>
          <a:solidFill>
            <a:srgbClr val="F2C2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0" y="17830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Вдоль фасада — 36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0" y="2304288"/>
            <a:ext cx="329184" cy="2560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686800" y="22402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Площадка у 20к2 — 12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229600" y="2761488"/>
            <a:ext cx="329184" cy="25603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686800" y="26974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газона д. 22 — 16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229600" y="3218688"/>
            <a:ext cx="329184" cy="256032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686800" y="31546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западного въезда — 9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229600" y="3675888"/>
            <a:ext cx="329184" cy="2560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686800" y="36118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МГН (в ряду у фасада)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229600" y="4133088"/>
            <a:ext cx="329184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686800" y="40690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шлагбаум (восточный въезд)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0" y="46177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Места 2,5 × 5 м, перпендикулярно проезду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Проезды 6 м сохраняются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Площадь нового покрытия ≈ 915 м²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Размещение — по схеме заказчика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Подложка: Яндекс Карты. Масштаб 1 px ≈ 0,3 м. Схема — проектное предложение, требует геодезической съёмки и решения ОСС.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нужно и что получится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БЫЛО</a:t>
            </a:r>
            <a:endParaRPr lang="en-US" sz="1800" dirty="0"/>
          </a:p>
        </p:txBody>
      </p:sp>
      <p:pic>
        <p:nvPicPr>
          <p:cNvPr id="6" name="Image 0" descr="/home/user/mirigrushek/parking/img/yard_w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45920"/>
            <a:ext cx="5303520" cy="21031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309360" y="1234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8C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СТАНЕТ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309360" y="1645920"/>
            <a:ext cx="5303520" cy="1737360"/>
          </a:xfrm>
          <a:prstGeom prst="rect">
            <a:avLst/>
          </a:prstGeom>
          <a:solidFill>
            <a:srgbClr val="3A3D44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566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6040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7513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8986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0459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1932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406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879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352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825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9298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0772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2245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718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5191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664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8138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611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1084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2557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4030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5504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6977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450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9923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1396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2870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04343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5816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7289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8762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10236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11709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3182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14655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16128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3093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4566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6040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7513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8986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0459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1932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3406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4879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6352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7825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9298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0772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82245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3718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85191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6664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8138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89611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91084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92557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4030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5504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96977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98450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99923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01396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102870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104343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105816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07289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108762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110236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111709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113182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114655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116128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6309360" y="345643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новых мест (в т.ч. 2 для МГН)</a:t>
            </a:r>
            <a:endParaRPr lang="en-US" sz="1200" dirty="0"/>
          </a:p>
        </p:txBody>
      </p:sp>
      <p:sp>
        <p:nvSpPr>
          <p:cNvPr id="84" name="Shape 81"/>
          <p:cNvSpPr/>
          <p:nvPr/>
        </p:nvSpPr>
        <p:spPr>
          <a:xfrm>
            <a:off x="6309360" y="1645920"/>
            <a:ext cx="294640" cy="17373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548640" y="3977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</a:t>
            </a:r>
            <a:endParaRPr lang="en-US" sz="1600" dirty="0"/>
          </a:p>
        </p:txBody>
      </p:sp>
      <p:sp>
        <p:nvSpPr>
          <p:cNvPr id="86" name="Text 83"/>
          <p:cNvSpPr txBox="1"/>
          <p:nvPr/>
        </p:nvSpPr>
        <p:spPr>
          <a:xfrm>
            <a:off x="548640" y="43891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ОСС (≥ 2/3 голосов) и проект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Геодезическая съёмка и согласования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Подрядчик, техника, материалы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 недель (подготовка + работы)</a:t>
            </a:r>
            <a:endParaRPr lang="en-US" sz="1400" dirty="0"/>
          </a:p>
        </p:txBody>
      </p:sp>
      <p:sp>
        <p:nvSpPr>
          <p:cNvPr id="87" name="Text 84"/>
          <p:cNvSpPr txBox="1"/>
          <p:nvPr/>
        </p:nvSpPr>
        <p:spPr>
          <a:xfrm>
            <a:off x="6309360" y="3977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получится</a:t>
            </a:r>
            <a:endParaRPr lang="en-US" sz="1600" dirty="0"/>
          </a:p>
        </p:txBody>
      </p:sp>
      <p:sp>
        <p:nvSpPr>
          <p:cNvPr id="88" name="Text 85"/>
          <p:cNvSpPr txBox="1"/>
          <p:nvPr/>
        </p:nvSpPr>
        <p:spPr>
          <a:xfrm>
            <a:off x="6309360" y="43891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+73 новых мест в 4 зонах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Шлагбаум на восточном въезде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Свободный проезд для скорой и пожарной техники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Освещение, водоотвод, разметка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Компенсационное озеленение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Техника и механизмы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822960"/>
                <a:gridCol w="914400"/>
                <a:gridCol w="1005840"/>
                <a:gridCol w="1097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Кол-во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Сумма,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Экскаватор-погрузчик JCB 3CX (с машинистом)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Самосвал КАМАЗ 65115 (вывоз грунта 595 м³)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рейс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Каток дорожный 6 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78 400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Асфальтоукладчик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Виброплита, инструмент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техника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740 200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371600"/>
            <a:ext cx="3017520" cy="2194560"/>
          </a:xfrm>
          <a:prstGeom prst="roundRect">
            <a:avLst>
              <a:gd name="adj" fmla="val 5000"/>
            </a:avLst>
          </a:prstGeom>
          <a:solidFill>
            <a:srgbClr val="26282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778240" y="1554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740 200 ₽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778240" y="24688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аренда техники с операторами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Расчётные значения: объёмы — по площади со схемы, цены — средние рыночные для СПб,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Расчёт заработной платы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31520"/>
                <a:gridCol w="822960"/>
                <a:gridCol w="146304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Должность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Чел.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Дней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Ставка ₽/день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ФОТ,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Прораб (весь срок, 9 недель)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Дорожные рабочие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525 000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Разнорабочие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Электромонтажник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Фонд оплаты труда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927 500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Страховые взносы 30 %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278 250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зарплата с взносами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20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1 205 750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20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5953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Формула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 = численность × дни × дневная ставка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Взносы = ФОТ × 30 %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Бригада: 11 человек.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Прораб ведёт объект весь срок — 9 недель = 45 рабочих дней (подготовка, согласования, работы, приёмка). Рабочие заняты только на стройке — 5 недель.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Расчётные значения: объёмы — по площади со схемы, цены — средние рыночные для СПб,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Смета проекта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Материалы и работы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Сумма, 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Демонтаж газона 915 м², выемка грунта 595 м³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441 650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Геотекстиль 915 м², песок 275 м³, щебень 229 м³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1 062 750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Асфальтобетон в 2 слоя, 915 м²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1 143 750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Бордюр БР 100.30.15 с установкой, 300 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Водоотвод: лотки 70 м + 2 дождеприёмника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Освещение: 5 опор LED с кабелем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 73 мест (термопластик) + знаки МГН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114 200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Шлагбаум автомат. с GSM на восточном въезде + монтаж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Компенсационное озеленение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Геодезия, проект и согласования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Материалы и работы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966960" y="1325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4 017 350 ₽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96696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740 200 ₽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2423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Зарплата с взносами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966960" y="2423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1 205 750 ₽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Непредвиденные 5 %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966960" y="2971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298 165 ₽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772400" y="370332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2628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01000" y="3794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 ПО СМЕТЕ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4160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6 261 465 ₽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52578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15 654 ₽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квартиры (400 кв.) или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85 773 ₽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 одно новое место.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Расчётные значения: объёмы — по площади со схемы, цены — средние рыночные для СПб,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Сроки выполнения работ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16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516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78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4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40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02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02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64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6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64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7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326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88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8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088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850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9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850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1783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ОСС, геодезия, проект, согласования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54880" y="1856232"/>
            <a:ext cx="3048000" cy="329184"/>
          </a:xfrm>
          <a:prstGeom prst="roundRect">
            <a:avLst>
              <a:gd name="adj" fmla="val 22222"/>
            </a:avLst>
          </a:prstGeom>
          <a:solidFill>
            <a:srgbClr val="9CA3A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23682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Демонтаж газона, земляные работы, вывоз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802880" y="2441448"/>
            <a:ext cx="12192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2953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Основание: песок, щебень, бордюр, водоотвод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869680" y="3026664"/>
            <a:ext cx="13716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35387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Асфальтирование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241280" y="3611880"/>
            <a:ext cx="6096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412394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Шлагбаум и освещение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936480" y="4197096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4709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Разметка, озеленение, приёмка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0850880" y="4782312"/>
            <a:ext cx="7620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 — 4 недели; строительство — 5 недель (25 рабочих дней), по зонам. Работы с 8:00 до 20:00, проезд во дворе перекрывается частично.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62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Выполнение задач и итог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32588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Двор обследован по снимкам и панорамам Яндекс Карт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39112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039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03911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2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Размещено 73 новых мест в 4 зонах двора (≈ 915 м²)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752344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523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75234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3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Спроектировано покрытие: основание + асфальт в 2 слоя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46557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4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Шлагбаум на въезде, освещение, водоотвод, места для МГН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78808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178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17880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5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Рассчитаны смета, ЗП, техника и график — 9 недель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128016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+73</a:t>
            </a:r>
            <a:endParaRPr lang="en-US" sz="72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25603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новых парковочных мест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0" y="3291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6 261 465 ₽  ·  9 недель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0" y="40233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достигнута: +73 мест, въезд под контролем шлагбаума.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62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rigrushek/parking/img/yard_facade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6282E">
              <a:alpha val="7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5184648" y="3794760"/>
            <a:ext cx="1828800" cy="73152"/>
          </a:xfrm>
          <a:prstGeom prst="rect">
            <a:avLst/>
          </a:prstGeom>
          <a:solidFill>
            <a:srgbClr val="F2C2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069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ул. Нахимова, д. 20  ·  +73 парковочных мест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2026-09-30T10:04:33Z</dcterms:created>
  <dcterms:modified xsi:type="dcterms:W3CDTF">2026-09-30T10:04:33Z</dcterms:modified>
</cp:coreProperties>
</file>