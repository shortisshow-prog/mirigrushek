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28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rigrushek/parking/img/pan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0" y="0"/>
            <a:ext cx="57881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914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Благоустройство общего имущества МКД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46304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Увеличение количества парковочных мест на придомовой территории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7490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ЖК «Морская рапсодия», Санкт-Петербург, ул. Нахимова, д. 20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93776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Выполнил(а): ______________________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Руководитель: ____________________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г.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Содержание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5394960" cy="658368"/>
          </a:xfrm>
          <a:prstGeom prst="roundRect">
            <a:avLst>
              <a:gd name="adj" fmla="val 13889"/>
            </a:avLst>
          </a:prstGeom>
          <a:solidFill>
            <a:srgbClr val="F3F4F6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417320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1417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325880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Описание объекта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148840"/>
            <a:ext cx="5394960" cy="658368"/>
          </a:xfrm>
          <a:prstGeom prst="roundRect">
            <a:avLst>
              <a:gd name="adj" fmla="val 13889"/>
            </a:avLst>
          </a:prstGeom>
          <a:solidFill>
            <a:srgbClr val="F3F4F6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2240280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22402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2148840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 на карте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2971800"/>
            <a:ext cx="5394960" cy="658368"/>
          </a:xfrm>
          <a:prstGeom prst="roundRect">
            <a:avLst>
              <a:gd name="adj" fmla="val 13889"/>
            </a:avLst>
          </a:prstGeom>
          <a:solidFill>
            <a:srgbClr val="F3F4F6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3063240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30632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2971800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Фото: фасады и улицы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3794760"/>
            <a:ext cx="5394960" cy="658368"/>
          </a:xfrm>
          <a:prstGeom prst="roundRect">
            <a:avLst>
              <a:gd name="adj" fmla="val 13889"/>
            </a:avLst>
          </a:prstGeom>
          <a:solidFill>
            <a:srgbClr val="F3F4F6"/>
          </a:solidFill>
          <a:ln/>
        </p:spPr>
      </p:sp>
      <p:sp>
        <p:nvSpPr>
          <p:cNvPr id="18" name="Shape 16"/>
          <p:cNvSpPr/>
          <p:nvPr/>
        </p:nvSpPr>
        <p:spPr>
          <a:xfrm>
            <a:off x="685800" y="3886200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5800" y="3886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3794760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Фото: двор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48640" y="4617720"/>
            <a:ext cx="5394960" cy="658368"/>
          </a:xfrm>
          <a:prstGeom prst="roundRect">
            <a:avLst>
              <a:gd name="adj" fmla="val 13889"/>
            </a:avLst>
          </a:prstGeom>
          <a:solidFill>
            <a:srgbClr val="F3F4F6"/>
          </a:solidFill>
          <a:ln/>
        </p:spPr>
      </p:sp>
      <p:sp>
        <p:nvSpPr>
          <p:cNvPr id="22" name="Shape 20"/>
          <p:cNvSpPr/>
          <p:nvPr/>
        </p:nvSpPr>
        <p:spPr>
          <a:xfrm>
            <a:off x="685800" y="4709160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47091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371600" y="4617720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48640" y="5440680"/>
            <a:ext cx="5394960" cy="658368"/>
          </a:xfrm>
          <a:prstGeom prst="roundRect">
            <a:avLst>
              <a:gd name="adj" fmla="val 13889"/>
            </a:avLst>
          </a:prstGeom>
          <a:solidFill>
            <a:srgbClr val="F3F4F6"/>
          </a:solidFill>
          <a:ln/>
        </p:spPr>
      </p:sp>
      <p:sp>
        <p:nvSpPr>
          <p:cNvPr id="26" name="Shape 24"/>
          <p:cNvSpPr/>
          <p:nvPr/>
        </p:nvSpPr>
        <p:spPr>
          <a:xfrm>
            <a:off x="685800" y="5532120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55321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371600" y="5440680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и задачи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309360" y="1325880"/>
            <a:ext cx="5394960" cy="658368"/>
          </a:xfrm>
          <a:prstGeom prst="roundRect">
            <a:avLst>
              <a:gd name="adj" fmla="val 13889"/>
            </a:avLst>
          </a:prstGeom>
          <a:solidFill>
            <a:srgbClr val="F3F4F6"/>
          </a:solidFill>
          <a:ln/>
        </p:spPr>
      </p:sp>
      <p:sp>
        <p:nvSpPr>
          <p:cNvPr id="30" name="Shape 28"/>
          <p:cNvSpPr/>
          <p:nvPr/>
        </p:nvSpPr>
        <p:spPr>
          <a:xfrm>
            <a:off x="6446520" y="1417320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46520" y="1417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7132320" y="1325880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 парковочных мест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309360" y="2148840"/>
            <a:ext cx="5394960" cy="658368"/>
          </a:xfrm>
          <a:prstGeom prst="roundRect">
            <a:avLst>
              <a:gd name="adj" fmla="val 13889"/>
            </a:avLst>
          </a:prstGeom>
          <a:solidFill>
            <a:srgbClr val="F3F4F6"/>
          </a:solidFill>
          <a:ln/>
        </p:spPr>
      </p:sp>
      <p:sp>
        <p:nvSpPr>
          <p:cNvPr id="34" name="Shape 32"/>
          <p:cNvSpPr/>
          <p:nvPr/>
        </p:nvSpPr>
        <p:spPr>
          <a:xfrm>
            <a:off x="6446520" y="2240280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46520" y="22402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7132320" y="2148840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нужно и что получится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309360" y="2971800"/>
            <a:ext cx="5394960" cy="658368"/>
          </a:xfrm>
          <a:prstGeom prst="roundRect">
            <a:avLst>
              <a:gd name="adj" fmla="val 13889"/>
            </a:avLst>
          </a:prstGeom>
          <a:solidFill>
            <a:srgbClr val="F3F4F6"/>
          </a:solidFill>
          <a:ln/>
        </p:spPr>
      </p:sp>
      <p:sp>
        <p:nvSpPr>
          <p:cNvPr id="38" name="Shape 36"/>
          <p:cNvSpPr/>
          <p:nvPr/>
        </p:nvSpPr>
        <p:spPr>
          <a:xfrm>
            <a:off x="6446520" y="3063240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46520" y="30632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7132320" y="2971800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Техника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09360" y="3794760"/>
            <a:ext cx="5394960" cy="658368"/>
          </a:xfrm>
          <a:prstGeom prst="roundRect">
            <a:avLst>
              <a:gd name="adj" fmla="val 13889"/>
            </a:avLst>
          </a:prstGeom>
          <a:solidFill>
            <a:srgbClr val="F3F4F6"/>
          </a:solidFill>
          <a:ln/>
        </p:spPr>
      </p:sp>
      <p:sp>
        <p:nvSpPr>
          <p:cNvPr id="42" name="Shape 40"/>
          <p:cNvSpPr/>
          <p:nvPr/>
        </p:nvSpPr>
        <p:spPr>
          <a:xfrm>
            <a:off x="6446520" y="3886200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446520" y="3886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7132320" y="3794760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Заработная плата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309360" y="4617720"/>
            <a:ext cx="5394960" cy="658368"/>
          </a:xfrm>
          <a:prstGeom prst="roundRect">
            <a:avLst>
              <a:gd name="adj" fmla="val 13889"/>
            </a:avLst>
          </a:prstGeom>
          <a:solidFill>
            <a:srgbClr val="F3F4F6"/>
          </a:solidFill>
          <a:ln/>
        </p:spPr>
      </p:sp>
      <p:sp>
        <p:nvSpPr>
          <p:cNvPr id="46" name="Shape 44"/>
          <p:cNvSpPr/>
          <p:nvPr/>
        </p:nvSpPr>
        <p:spPr>
          <a:xfrm>
            <a:off x="6446520" y="4709160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446520" y="47091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7132320" y="4617720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Смета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6309360" y="5440680"/>
            <a:ext cx="5394960" cy="658368"/>
          </a:xfrm>
          <a:prstGeom prst="roundRect">
            <a:avLst>
              <a:gd name="adj" fmla="val 13889"/>
            </a:avLst>
          </a:prstGeom>
          <a:solidFill>
            <a:srgbClr val="F3F4F6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6520" y="5532120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446520" y="55321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7132320" y="5440680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Сроки и итог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Описание объекта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64008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3891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Адрес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Санкт-Петербург, Василеостровский р-н, МО Гавань, ул. Нахимова, д. 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Комплекс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ЖК «Морская рапсодия»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Год постройки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Этажность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17–25 этажей, индивидуальный проект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Конструкция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кирпично-монолитный, перекрытия ж/б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Подъезды / лифты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подъездов, 13 лифтов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Квартир / жителей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 квартир, 683 жителя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Площадь дома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общая 42 176 м², жилая 30 055 м²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Парковка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подземный паркинг + открытая парковка во дворе; двор закрыт шлагбаумами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6" name="Image 0" descr="/home/user/mirigrushek/parking/img/pan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280160"/>
            <a:ext cx="4389120" cy="247802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223760" y="37947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Фасад с ул. Нахимова (Яндекс Панорамы)</a:t>
            </a:r>
            <a:endParaRPr lang="en-US" sz="1200" dirty="0"/>
          </a:p>
        </p:txBody>
      </p:sp>
      <p:pic>
        <p:nvPicPr>
          <p:cNvPr id="8" name="Image 1" descr="/home/user/mirigrushek/parking/img/yard_facad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223760" y="4160520"/>
            <a:ext cx="4389120" cy="20116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Источники: Домклик, ЦИАН (карточка дома), beyond.ru, Яндекс Карты — проверено в сентябре 2026 г.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Объект на карте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pic>
        <p:nvPicPr>
          <p:cNvPr id="5" name="Image 0" descr="/home/user/mirigrushek/parking/img/sa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730752"/>
          </a:xfrm>
          <a:prstGeom prst="rect">
            <a:avLst/>
          </a:prstGeom>
        </p:spPr>
      </p:pic>
      <p:pic>
        <p:nvPicPr>
          <p:cNvPr id="6" name="Image 1" descr="/home/user/mirigrushek/parking/img/map_z1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280160"/>
            <a:ext cx="5394960" cy="3730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074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Спутник: дом 20 на углу ул. Нахимова и Галерного проезда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6217920" y="5074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квартала: двор между д. 20, 20к2 и 22, въезды со шлагбаумами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Источник: Яндекс Карты (yandex.ru/maps), 2026 г.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Фото: фасады и улицы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pic>
        <p:nvPicPr>
          <p:cNvPr id="5" name="Image 0" descr="/home/user/mirigrushek/parking/img/pano_ea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486400" cy="3374136"/>
          </a:xfrm>
          <a:prstGeom prst="rect">
            <a:avLst/>
          </a:prstGeom>
        </p:spPr>
      </p:pic>
      <p:pic>
        <p:nvPicPr>
          <p:cNvPr id="6" name="Image 1" descr="/home/user/mirigrushek/parking/img/pano_galern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280160"/>
            <a:ext cx="5303520" cy="288950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4709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Восточная часть дома, ул. Нахимова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6309360" y="4224528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 с Галерного проезда: парковка вдоль проезда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Источник: Яндекс Панорамы, 2026 г.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Фото: двор дома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pic>
        <p:nvPicPr>
          <p:cNvPr id="5" name="Image 0" descr="/home/user/mirigrushek/parking/img/yard_wes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34440"/>
            <a:ext cx="5440680" cy="2286000"/>
          </a:xfrm>
          <a:prstGeom prst="rect">
            <a:avLst/>
          </a:prstGeom>
        </p:spPr>
      </p:pic>
      <p:pic>
        <p:nvPicPr>
          <p:cNvPr id="6" name="Image 1" descr="/home/user/mirigrushek/parking/img/yard_facad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234440"/>
            <a:ext cx="5440680" cy="22860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56616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Внутридворовый проезд: машины стоят по обе стороны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6172200" y="356616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Южный фасад и палисадник вдоль проезда</a:t>
            </a:r>
            <a:endParaRPr lang="en-US" sz="1200" dirty="0"/>
          </a:p>
        </p:txBody>
      </p:sp>
      <p:pic>
        <p:nvPicPr>
          <p:cNvPr id="9" name="Image 2" descr="/home/user/mirigrushek/parking/img/yard_winter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8640" y="3977640"/>
            <a:ext cx="5440680" cy="1920240"/>
          </a:xfrm>
          <a:prstGeom prst="rect">
            <a:avLst/>
          </a:prstGeom>
        </p:spPr>
      </p:pic>
      <p:pic>
        <p:nvPicPr>
          <p:cNvPr id="10" name="Image 3" descr="/home/user/mirigrushek/parking/img/yard_entry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172200" y="3977640"/>
            <a:ext cx="5440680" cy="192024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548640" y="594360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Двор зимой: стихийная парковка на проездах</a:t>
            </a:r>
            <a:endParaRPr lang="en-US" sz="1200" dirty="0"/>
          </a:p>
        </p:txBody>
      </p:sp>
      <p:sp>
        <p:nvSpPr>
          <p:cNvPr id="12" name="Text 6"/>
          <p:cNvSpPr txBox="1"/>
          <p:nvPr/>
        </p:nvSpPr>
        <p:spPr>
          <a:xfrm>
            <a:off x="6172200" y="594360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Восточный въезд и огороженная парковка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Актуальность и понятие благоустройства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669280" cy="2103120"/>
          </a:xfrm>
          <a:prstGeom prst="roundRect">
            <a:avLst>
              <a:gd name="adj" fmla="val 5217"/>
            </a:avLst>
          </a:prstGeom>
          <a:solidFill>
            <a:srgbClr val="2628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46304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Благоустройство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комплекс мероприятий по содержанию и развитию территории, направленных на повышение комфорта и безопасности жителей (п. 36 ст. 1 ГрК РФ). Придомовая территория входит в состав общего имущества МКД (ст. 36 ЖК РФ), решение о её изменении принимает общее собрание собственников (ст. 44 ЖК РФ).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840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400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6634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квартир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468880" y="3840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683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2468880" y="46634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жителя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389120" y="3840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+21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46634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мест по проекту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13716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видно на снимках и панорамах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1920240"/>
            <a:ext cx="49377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Машины стоят вдоль внутридворового проезда с обеих сторон — проезд сужается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Зимой парковка стихийная, без разметки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Открытая парковка у д. 20к2 заполнена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Машины паркуются и вдоль Галерного проезда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400 квартир мест во дворе недостаточно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Цель и задачи проекта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2C2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2801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ЦЕЛЬ:  </a:t>
            </a:r>
            <a:pPr indent="0" marL="0">
              <a:buNone/>
            </a:pPr>
            <a:r>
              <a:rPr lang="en-US" sz="2000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добавить 21 организованное парковочное место во дворе МКД ул. Нахимова, 20 и упорядочить парковку вдоль проезда.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2057400" cy="3291840"/>
          </a:xfrm>
          <a:prstGeom prst="roundRect">
            <a:avLst>
              <a:gd name="adj" fmla="val 4444"/>
            </a:avLst>
          </a:prstGeom>
          <a:solidFill>
            <a:srgbClr val="F3F4F6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0" y="2926080"/>
            <a:ext cx="640080" cy="640080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926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703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06908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Обследовать двор по снимкам и на месте, получить решение ОСС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98064" y="2743200"/>
            <a:ext cx="2057400" cy="3291840"/>
          </a:xfrm>
          <a:prstGeom prst="roundRect">
            <a:avLst>
              <a:gd name="adj" fmla="val 4444"/>
            </a:avLst>
          </a:prstGeom>
          <a:solidFill>
            <a:srgbClr val="F3F4F6"/>
          </a:solidFill>
          <a:ln/>
        </p:spPr>
      </p:sp>
      <p:sp>
        <p:nvSpPr>
          <p:cNvPr id="13" name="Shape 11"/>
          <p:cNvSpPr/>
          <p:nvPr/>
        </p:nvSpPr>
        <p:spPr>
          <a:xfrm>
            <a:off x="2980944" y="2926080"/>
            <a:ext cx="640080" cy="640080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980944" y="2926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2980944" y="3703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980944" y="406908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Демонтировать полосу газона ≈ 265 м² вдоль проезда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47488" y="2743200"/>
            <a:ext cx="2057400" cy="3291840"/>
          </a:xfrm>
          <a:prstGeom prst="roundRect">
            <a:avLst>
              <a:gd name="adj" fmla="val 4444"/>
            </a:avLst>
          </a:prstGeom>
          <a:solidFill>
            <a:srgbClr val="F3F4F6"/>
          </a:solidFill>
          <a:ln/>
        </p:spPr>
      </p:sp>
      <p:sp>
        <p:nvSpPr>
          <p:cNvPr id="18" name="Shape 16"/>
          <p:cNvSpPr/>
          <p:nvPr/>
        </p:nvSpPr>
        <p:spPr>
          <a:xfrm>
            <a:off x="5230368" y="2926080"/>
            <a:ext cx="640080" cy="640080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230368" y="2926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230368" y="3703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30368" y="406908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Устроить основание и асфальт на 21 место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296912" y="2743200"/>
            <a:ext cx="2057400" cy="3291840"/>
          </a:xfrm>
          <a:prstGeom prst="roundRect">
            <a:avLst>
              <a:gd name="adj" fmla="val 4444"/>
            </a:avLst>
          </a:prstGeom>
          <a:solidFill>
            <a:srgbClr val="F3F4F6"/>
          </a:solidFill>
          <a:ln/>
        </p:spPr>
      </p:sp>
      <p:sp>
        <p:nvSpPr>
          <p:cNvPr id="23" name="Shape 21"/>
          <p:cNvSpPr/>
          <p:nvPr/>
        </p:nvSpPr>
        <p:spPr>
          <a:xfrm>
            <a:off x="7479792" y="2926080"/>
            <a:ext cx="640080" cy="640080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479792" y="2926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7479792" y="3703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4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479792" y="406908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Сделать освещение, водоотвод и разметку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546336" y="2743200"/>
            <a:ext cx="2057400" cy="3291840"/>
          </a:xfrm>
          <a:prstGeom prst="roundRect">
            <a:avLst>
              <a:gd name="adj" fmla="val 4444"/>
            </a:avLst>
          </a:prstGeom>
          <a:solidFill>
            <a:srgbClr val="F3F4F6"/>
          </a:solidFill>
          <a:ln/>
        </p:spPr>
      </p:sp>
      <p:sp>
        <p:nvSpPr>
          <p:cNvPr id="28" name="Shape 26"/>
          <p:cNvSpPr/>
          <p:nvPr/>
        </p:nvSpPr>
        <p:spPr>
          <a:xfrm>
            <a:off x="9729216" y="2926080"/>
            <a:ext cx="640080" cy="640080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729216" y="2926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9729216" y="3703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729216" y="406908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Рассчитать смету, зарплату, технику и график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 парковочных мест во дворе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pic>
        <p:nvPicPr>
          <p:cNvPr id="5" name="Image 0" descr="/home/user/mirigrushek/parking/img/plan_sa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7406640" cy="51297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0" y="12344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Легенда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8229600" y="1783080"/>
            <a:ext cx="365760" cy="274320"/>
          </a:xfrm>
          <a:prstGeom prst="rect">
            <a:avLst/>
          </a:prstGeom>
          <a:solidFill>
            <a:srgbClr val="F2C200"/>
          </a:solidFill>
          <a:ln w="6350">
            <a:solidFill>
              <a:srgbClr val="9CA3A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32520" y="17373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Новые места 2,5 × 5 м (19)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229600" y="2286000"/>
            <a:ext cx="365760" cy="274320"/>
          </a:xfrm>
          <a:prstGeom prst="rect">
            <a:avLst/>
          </a:prstGeom>
          <a:solidFill>
            <a:srgbClr val="2563EB"/>
          </a:solidFill>
          <a:ln w="6350">
            <a:solidFill>
              <a:srgbClr val="9CA3A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732520" y="22402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Места для МГН 3,6 × 6 м (2)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229600" y="2788920"/>
            <a:ext cx="365760" cy="274320"/>
          </a:xfrm>
          <a:prstGeom prst="rect">
            <a:avLst/>
          </a:prstGeom>
          <a:solidFill>
            <a:srgbClr val="3B82F6"/>
          </a:solidFill>
          <a:ln w="6350">
            <a:solidFill>
              <a:srgbClr val="9CA3A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732520" y="2743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Существующая парковка у 20к2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229600" y="3291840"/>
            <a:ext cx="365760" cy="274320"/>
          </a:xfrm>
          <a:prstGeom prst="rect">
            <a:avLst/>
          </a:prstGeom>
          <a:solidFill>
            <a:srgbClr val="E5E7EB"/>
          </a:solidFill>
          <a:ln w="6350">
            <a:solidFill>
              <a:srgbClr val="9CA3A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732520" y="3246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Внутридворовый проезд 6 м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0" y="3886200"/>
            <a:ext cx="3383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Ряд перпендикулярных мест вдоль южной стороны проезда, длина ≈ 54 м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Площадь нового покрытия ≈ 265 м²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Проезд 6 м сохраняется — машины больше не стоят на нём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 по снимку Яндекс Карт: 1 px ≈ 0,3 м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Подложка: спутниковый снимок Яндекс Карт. Схема — проектное предложение, требует геодезической съёмки и согласования с ОСС.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нужно и что получится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БЫЛО</a:t>
            </a:r>
            <a:endParaRPr lang="en-US" sz="1800" dirty="0"/>
          </a:p>
        </p:txBody>
      </p:sp>
      <p:pic>
        <p:nvPicPr>
          <p:cNvPr id="6" name="Image 0" descr="/home/user/mirigrushek/parking/img/yard_wes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45920"/>
            <a:ext cx="5303520" cy="21031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309360" y="1234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8C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СТАНЕТ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309360" y="1645920"/>
            <a:ext cx="5303520" cy="1737360"/>
          </a:xfrm>
          <a:prstGeom prst="rect">
            <a:avLst/>
          </a:prstGeom>
          <a:solidFill>
            <a:srgbClr val="3A3D44"/>
          </a:solidFill>
          <a:ln/>
        </p:spPr>
      </p:sp>
      <p:sp>
        <p:nvSpPr>
          <p:cNvPr id="9" name="Shape 6"/>
          <p:cNvSpPr/>
          <p:nvPr/>
        </p:nvSpPr>
        <p:spPr>
          <a:xfrm>
            <a:off x="630936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61909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14457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067006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9554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572103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824651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07720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329749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582297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834846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087394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339943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592491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84504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097589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350137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2686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855234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1107783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1360331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161288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30936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561909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814457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067006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319554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572103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824651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07720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329749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8582297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834846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9087394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9339943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9592491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984504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0097589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10350137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10602686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10855234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11107783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11360331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161288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6309360" y="345643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новое место (в т.ч. 2 для МГН), проезд свободен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6309360" y="1645920"/>
            <a:ext cx="505097" cy="17373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548640" y="3977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нужно</a:t>
            </a:r>
            <a:endParaRPr lang="en-US" sz="1600" dirty="0"/>
          </a:p>
        </p:txBody>
      </p:sp>
      <p:sp>
        <p:nvSpPr>
          <p:cNvPr id="56" name="Text 53"/>
          <p:cNvSpPr txBox="1"/>
          <p:nvPr/>
        </p:nvSpPr>
        <p:spPr>
          <a:xfrm>
            <a:off x="548640" y="4389120"/>
            <a:ext cx="5303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ОСС (≥ 2/3 голосов) и проект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Геодезическая съёмка и согласования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Подрядчик, техника, материалы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7 недель (подготовка + работы)</a:t>
            </a:r>
            <a:endParaRPr lang="en-US" sz="1400" dirty="0"/>
          </a:p>
        </p:txBody>
      </p:sp>
      <p:sp>
        <p:nvSpPr>
          <p:cNvPr id="57" name="Text 54"/>
          <p:cNvSpPr txBox="1"/>
          <p:nvPr/>
        </p:nvSpPr>
        <p:spPr>
          <a:xfrm>
            <a:off x="6309360" y="3977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получится</a:t>
            </a:r>
            <a:endParaRPr lang="en-US" sz="1600" dirty="0"/>
          </a:p>
        </p:txBody>
      </p:sp>
      <p:sp>
        <p:nvSpPr>
          <p:cNvPr id="58" name="Text 55"/>
          <p:cNvSpPr txBox="1"/>
          <p:nvPr/>
        </p:nvSpPr>
        <p:spPr>
          <a:xfrm>
            <a:off x="6309360" y="4389120"/>
            <a:ext cx="5303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 организованное место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Свободный проезд для скорой и пожарной техники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Освещение, водоотвод, разметка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Компенсационное озеленение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Техника и механизмы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68096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822960"/>
                <a:gridCol w="914400"/>
                <a:gridCol w="1005840"/>
                <a:gridCol w="10972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Кол-во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Цена,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Сумма,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Экскаватор-погрузчик JCB 3CX (с машинистом)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маш.-ч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3 200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51 200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Самосвал КАМАЗ 65115 (вывоз грунта 172 м³)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рейс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117 000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Каток дорожный 6 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маш.-ч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33 600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Асфальтоукладчик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маш.-ч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Виброплита, инструмент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Итого техника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252 800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595360" y="1371600"/>
            <a:ext cx="3017520" cy="2194560"/>
          </a:xfrm>
          <a:prstGeom prst="roundRect">
            <a:avLst>
              <a:gd name="adj" fmla="val 5000"/>
            </a:avLst>
          </a:prstGeom>
          <a:solidFill>
            <a:srgbClr val="26282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778240" y="15544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C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252 800 ₽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778240" y="24688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аренда техники с операторами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Расчётные значения: объёмы — по площади со схемы, цены — средние рыночные для СПб, 2026 г.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Расчёт заработной платы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6809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31520"/>
                <a:gridCol w="822960"/>
                <a:gridCol w="1463040"/>
                <a:gridCol w="1371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Должность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Чел.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Дней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Ставка ₽/день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ФОТ,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Прораб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Дорожные рабочие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Разнорабочие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44 800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Электромонтажник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Фонд оплаты труда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360 800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Страховые взносы 30 %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108 240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Итого зарплата с взносами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C200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469 040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C200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595360" y="1371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Формула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595360" y="1828800"/>
            <a:ext cx="3017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 = численность × дни × дневная ставка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Взносы = ФОТ × 30 %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Бригада: 8 человек.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Расчётные значения: объёмы — по площади со схемы, цены — средние рыночные для СПб, 2026 г.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Смета проекта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6766560" cy="914400"/>
        </p:xfrm>
        <a:graphic>
          <a:graphicData uri="http://schemas.openxmlformats.org/drawingml/2006/table">
            <a:tbl>
              <a:tblPr/>
              <a:tblGrid>
                <a:gridCol w="5303520"/>
                <a:gridCol w="1463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Материалы и работы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Сумма, 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Демонтаж газона 265 м², выемка грунта 172 м³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127 700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Геотекстиль 265 м², песок 80 м³, щебень 66 м³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307 450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Асфальтобетон в 2 слоя, 265 м²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331 250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Бордюр БР 100.30.15 с установкой, 64 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83 200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Водоотвод: лотки 30 м + дождеприёмник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Освещение: 2 опоры LED с кабелем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 (термопластик) + 2 знака МГН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Компенсационное озеленение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Геодезия, проект и согласования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77240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Материалы и работы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966960" y="13258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1 236 600 ₽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1874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Техника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996696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252 800 ₽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2423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Зарплата с взносами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9966960" y="2423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469 040 ₽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2971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Непредвиденные 5 %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9966960" y="29718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97 922 ₽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772400" y="3703320"/>
            <a:ext cx="3840480" cy="1371600"/>
          </a:xfrm>
          <a:prstGeom prst="roundRect">
            <a:avLst>
              <a:gd name="adj" fmla="val 8000"/>
            </a:avLst>
          </a:prstGeom>
          <a:solidFill>
            <a:srgbClr val="26282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001000" y="3794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ИТОГО ПО СМЕТЕ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01000" y="41605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C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2 056 362 ₽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52578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5 141 ₽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 квартиры (400 кв.) или 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97 922 ₽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за одно новое место.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Расчётные значения: объёмы — по площади со схемы, цены — средние рыночные для СПб, 2026 г.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Сроки выполнения работ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1280160"/>
            <a:ext cx="9797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754880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734594" y="1280160"/>
            <a:ext cx="9797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734594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714309" y="1280160"/>
            <a:ext cx="9797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3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714309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694023" y="1280160"/>
            <a:ext cx="9797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4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694023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73737" y="1280160"/>
            <a:ext cx="9797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5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673737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53451" y="1280160"/>
            <a:ext cx="9797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6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653451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633166" y="1280160"/>
            <a:ext cx="9797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7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0633166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17830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ОСС, геодезия, проект, согласования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754880" y="1856232"/>
            <a:ext cx="3918857" cy="329184"/>
          </a:xfrm>
          <a:prstGeom prst="roundRect">
            <a:avLst>
              <a:gd name="adj" fmla="val 22222"/>
            </a:avLst>
          </a:prstGeom>
          <a:solidFill>
            <a:srgbClr val="9CA3A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236829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Демонтаж газона, земляные работы, вывоз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673737" y="2441448"/>
            <a:ext cx="783771" cy="329184"/>
          </a:xfrm>
          <a:prstGeom prst="roundRect">
            <a:avLst>
              <a:gd name="adj" fmla="val 22222"/>
            </a:avLst>
          </a:prstGeom>
          <a:solidFill>
            <a:srgbClr val="F2C20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295351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Основание: песок, щебень, бордюр, водоотвод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457509" y="3026664"/>
            <a:ext cx="979714" cy="329184"/>
          </a:xfrm>
          <a:prstGeom prst="roundRect">
            <a:avLst>
              <a:gd name="adj" fmla="val 22222"/>
            </a:avLst>
          </a:prstGeom>
          <a:solidFill>
            <a:srgbClr val="F2C20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35387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Асфальтирование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0437223" y="3611880"/>
            <a:ext cx="391886" cy="329184"/>
          </a:xfrm>
          <a:prstGeom prst="roundRect">
            <a:avLst>
              <a:gd name="adj" fmla="val 22222"/>
            </a:avLst>
          </a:prstGeom>
          <a:solidFill>
            <a:srgbClr val="F2C20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412394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Освещение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10241280" y="4197096"/>
            <a:ext cx="587829" cy="329184"/>
          </a:xfrm>
          <a:prstGeom prst="roundRect">
            <a:avLst>
              <a:gd name="adj" fmla="val 22222"/>
            </a:avLst>
          </a:prstGeom>
          <a:solidFill>
            <a:srgbClr val="F2C20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47091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Разметка, озеленение, приёмка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0829109" y="4782312"/>
            <a:ext cx="783771" cy="329184"/>
          </a:xfrm>
          <a:prstGeom prst="roundRect">
            <a:avLst>
              <a:gd name="adj" fmla="val 22222"/>
            </a:avLst>
          </a:prstGeom>
          <a:solidFill>
            <a:srgbClr val="F2C20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Подготовка — 4 недели; строительство — 3 недели (15 рабочих дней). Работы с 8:00 до 20:00, проезд во дворе перекрывается частично.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628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Выполнение задач и итог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82E"/>
                </a:solidFill>
              </a:rPr>
              <a:t>✓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32588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1 выполнена.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Двор обследован по снимкам и панорамам Яндекс Карт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039112"/>
            <a:ext cx="502920" cy="50292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0391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82E"/>
                </a:solidFill>
              </a:rPr>
              <a:t>✓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039112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2 выполнена.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Найдено место для ряда из 21 места вдоль проезда (≈ 265 м²)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752344"/>
            <a:ext cx="502920" cy="50292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75234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82E"/>
                </a:solidFill>
              </a:rPr>
              <a:t>✓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752344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3 выполнена.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Спроектировано покрытие: основание + асфальт в 2 слоя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465576"/>
            <a:ext cx="502920" cy="50292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4655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82E"/>
                </a:solidFill>
              </a:rPr>
              <a:t>✓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465576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4 выполнена.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Предусмотрены освещение, водоотвод, разметка и места для МГН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178808"/>
            <a:ext cx="502920" cy="50292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1788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82E"/>
                </a:solidFill>
              </a:rPr>
              <a:t>✓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4178808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5 выполнена.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Рассчитаны смета, ЗП, техника и график — 7 недель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589520" y="128016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2C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+21</a:t>
            </a:r>
            <a:endParaRPr lang="en-US" sz="7200" dirty="0"/>
          </a:p>
        </p:txBody>
      </p:sp>
      <p:sp>
        <p:nvSpPr>
          <p:cNvPr id="19" name="Text 17"/>
          <p:cNvSpPr txBox="1"/>
          <p:nvPr/>
        </p:nvSpPr>
        <p:spPr>
          <a:xfrm>
            <a:off x="7589520" y="25603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новое парковочное место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589520" y="32918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2 056 362 ₽  ·  7 недель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589520" y="40233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достигнута: парковка во дворе упорядочена, проезд освобождён.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9436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внимание!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2026-09-30T09:09:02Z</dcterms:created>
  <dcterms:modified xsi:type="dcterms:W3CDTF">2026-09-30T09:09:02Z</dcterms:modified>
</cp:coreProperties>
</file>