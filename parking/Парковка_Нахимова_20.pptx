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rigrushek/parking/img/pan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Благоустройство общего имущества МКД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Увеличение количества парковочных мест на придомовой территории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ЖК «Морская рапсодия», Санкт-Петербург, ул. Нахимова, д. 20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Выполнил(а): ______________________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____________________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801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объекта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084832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199339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на карте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798064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7066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Фото: фасады и улицы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511296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41985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Фото: двор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224528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13308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937760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84632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1280160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1371600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12801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парковочных мест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1993392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46520" y="2084832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4652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199339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и что получится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9360" y="2706624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2798064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4652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0" y="27066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09360" y="3419856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6520" y="3511296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4652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132320" y="341985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Заработная плата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9360" y="4133088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46" name="Shape 44"/>
          <p:cNvSpPr/>
          <p:nvPr/>
        </p:nvSpPr>
        <p:spPr>
          <a:xfrm>
            <a:off x="6446520" y="4224528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46520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0" y="413308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9360" y="4846320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3F4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6520" y="4937760"/>
            <a:ext cx="475488" cy="475488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46520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132320" y="484632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и итог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Описание объекта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Санкт-Петербург, Василеостровский р-н, МО Гавань, ул. Нахимова, д.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Комплекс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ЖК «Морская рапсодия»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постройки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2010, индивидуальный проект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Этажность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этажей (с техническим — 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Конструкция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монолитный, перекрытия железобетонные; газа 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Подъезды / лифты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подъездов, 13 лифтов (7 пасс. + 6 груз.)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Квартир / жителей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квартир, 683 жителя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Площадь дома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общая 42 176 м², жилая 30 055 м², нежилая 9 022 м²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ТСЖ «Нахимова 20»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Парковка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подземный паркинг + открытая во дворе; въезды со шлагбаумами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home/user/mirigrushek/parking/img/pan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0160"/>
            <a:ext cx="4389120" cy="24780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22376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Фасад с ул. Нахимова (Яндекс Панорамы)</a:t>
            </a:r>
            <a:endParaRPr lang="en-US" sz="1200" dirty="0"/>
          </a:p>
        </p:txBody>
      </p:sp>
      <p:pic>
        <p:nvPicPr>
          <p:cNvPr id="8" name="Image 1" descr="/home/user/mirigrushek/parking/img/yard_facad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4160520"/>
            <a:ext cx="4389120" cy="2011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2ГИС (карточка дома, сентябрь 2026), реестр домов (Домклик/ЦИАН), Яндекс Карты. Этажность в источниках: 25 (2ГИС) и 26 (реестр).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на карте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/home/user/mirigrushek/parking/img/s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730752"/>
          </a:xfrm>
          <a:prstGeom prst="rect">
            <a:avLst/>
          </a:prstGeom>
        </p:spPr>
      </p:pic>
      <p:pic>
        <p:nvPicPr>
          <p:cNvPr id="6" name="Image 1" descr="/home/user/mirigrushek/parking/img/map_z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3730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Спутник: дом 20 на углу ул. Нахимова и Галерного проезда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квартала: двор между д. 20, 20к2 и 22, въезды со шлагбаумами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Яндекс Карты (yandex.ru/maps), 2026 г.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Фото: фасады и улицы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/home/user/mirigrushek/parking/img/pano_e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86400" cy="3374136"/>
          </a:xfrm>
          <a:prstGeom prst="rect">
            <a:avLst/>
          </a:prstGeom>
        </p:spPr>
      </p:pic>
      <p:pic>
        <p:nvPicPr>
          <p:cNvPr id="6" name="Image 1" descr="/home/user/mirigrushek/parking/img/pano_galern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28895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Восточная часть дома, ул. Нахимова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2245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 Галерного проезда: парковка вдоль проезда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Яндекс Панорамы, 2026 г.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Фото: двор дома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5" name="Image 0" descr="/home/user/mirigrushek/parking/img/yard_w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5440680" cy="2286000"/>
          </a:xfrm>
          <a:prstGeom prst="rect">
            <a:avLst/>
          </a:prstGeom>
        </p:spPr>
      </p:pic>
      <p:pic>
        <p:nvPicPr>
          <p:cNvPr id="6" name="Image 1" descr="/home/user/mirigrushek/parking/img/yard_facad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234440"/>
            <a:ext cx="5440680" cy="2286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5661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Внутридворовый проезд: машины стоят по обе стороны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35661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Южный фасад и палисадник вдоль проезда</a:t>
            </a:r>
            <a:endParaRPr lang="en-US" sz="1200" dirty="0"/>
          </a:p>
        </p:txBody>
      </p:sp>
      <p:pic>
        <p:nvPicPr>
          <p:cNvPr id="9" name="Image 2" descr="/home/user/mirigrushek/parking/img/yard_wint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977640"/>
            <a:ext cx="5440680" cy="1920240"/>
          </a:xfrm>
          <a:prstGeom prst="rect">
            <a:avLst/>
          </a:prstGeom>
        </p:spPr>
      </p:pic>
      <p:pic>
        <p:nvPicPr>
          <p:cNvPr id="10" name="Image 3" descr="/home/user/mirigrushek/parking/img/yard_entr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3977640"/>
            <a:ext cx="5440680" cy="1920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5943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 зимой: стихийная парковка на проездах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6172200" y="5943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Восточный въезд и огороженная парковка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 и понятие благоустройства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2628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Благоустройство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комплекс мероприятий по содержанию и развитию территории, направленных на повышение комфорта и безопасности жителей (п. 36 ст. 1 ГрК РФ). Придомовая территория входит в состав общего имущества МКД (ст. 36 ЖК РФ), решение о её изменении принимает общее собрание собственников (ст. 44 ЖК РФ).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жителя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+171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по проекту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 на снимках и панорамах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9202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Машины стоят вдоль внутридворового проезда с обеих сторон — проезд сужается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Зимой парковка стихийная, без разметки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парковка у д. 20к2 заполнена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Машины паркуются и вдоль Галерного проезда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400 квартир мест во дворе недостаточно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проекта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2C2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 </a:t>
            </a:r>
            <a:pPr indent="0" marL="0">
              <a:buNone/>
            </a:pPr>
            <a:r>
              <a:rPr lang="en-US" sz="2000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обустроить 171 новых парковочных мест во дворе МКД ул. Нахимова, 20 и поставить шлагбаумы на двух въездах.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690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Обследовать двор по снимкам и на месте, получить решение ОСС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98064" y="27432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980944" y="2926080"/>
            <a:ext cx="640080" cy="640080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80944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80944" y="40690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Демонтировать газон ≈ 2 140 м² в зонах новых мест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47488" y="27432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2926080"/>
            <a:ext cx="640080" cy="640080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3036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40690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Устроить основание и асфальт на 171 мест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96912" y="27432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479792" y="2926080"/>
            <a:ext cx="640080" cy="640080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79792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40690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Поставить шлагбаумы, освещение, водоотвод, разметку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546336" y="274320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9729216" y="2926080"/>
            <a:ext cx="640080" cy="640080"/>
          </a:xfrm>
          <a:prstGeom prst="ellipse">
            <a:avLst/>
          </a:prstGeom>
          <a:solidFill>
            <a:srgbClr val="2628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29216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729216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40690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Рассчитать смету, зарплату, технику и график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парковочных мест во дворе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pic>
        <p:nvPicPr>
          <p:cNvPr id="5" name="Image 0" descr="/home/user/mirigrushek/parking/img/plan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406640" cy="35753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места: 171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0" y="1801368"/>
            <a:ext cx="329184" cy="256032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0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Вдоль фасада — 40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2185416"/>
            <a:ext cx="329184" cy="256032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0" y="2121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Вокруг д. 22 — 33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2569464"/>
            <a:ext cx="329184" cy="256032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0" y="25054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 у 20к2 — 29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2953512"/>
            <a:ext cx="329184" cy="256032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0" y="2889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Въезд с Малого пр. — 35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3337560"/>
            <a:ext cx="329184" cy="256032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0" y="32735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Западный въезд — 24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0" y="3721608"/>
            <a:ext cx="329184" cy="256032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0" y="3657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Западное крыло — 10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0" y="4105656"/>
            <a:ext cx="32918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0" y="4041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МГН (в ряду у фасада)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0" y="4489704"/>
            <a:ext cx="329184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0" y="4425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Шлагбаумы (2 въезда)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937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места одного размера 2,5 × 5 м, с равным шагом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Проезды 6 м сохраняются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нового покрытия ≈ 2 140 м²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— по схеме заказчика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Подложка: Яндекс Карты. Масштаб 1 px ≈ 0,3 м. Схема — проектное предложение, требует геодезической съёмки и решения ОСС.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и что получится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800" dirty="0"/>
          </a:p>
        </p:txBody>
      </p:sp>
      <p:pic>
        <p:nvPicPr>
          <p:cNvPr id="6" name="Image 0" descr="/home/user/mirigrushek/parking/img/yard_w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303520" cy="2103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СТАНЕТ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645920"/>
            <a:ext cx="5303520" cy="1737360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9" name="Shape 6"/>
          <p:cNvSpPr/>
          <p:nvPr/>
        </p:nvSpPr>
        <p:spPr>
          <a:xfrm>
            <a:off x="63093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66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40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513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986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59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932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406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879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352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825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298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772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45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718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191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64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138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611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084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557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030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504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977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450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923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1396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870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343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5816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7289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8762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02360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17092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31824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146556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612880" y="1645920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093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566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6040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7513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8986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459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932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406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4879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352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825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9298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772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2245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3718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5191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6664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138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9611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1084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2557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4030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5504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6977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8450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9923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1396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2870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4343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5816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7289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8762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102360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117092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131824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46556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1612880" y="2601468"/>
            <a:ext cx="0" cy="7818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6309360" y="3456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новых мест (в т.ч. 2 для МГН)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6309360" y="1645920"/>
            <a:ext cx="294640" cy="1737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54864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1600" dirty="0"/>
          </a:p>
        </p:txBody>
      </p:sp>
      <p:sp>
        <p:nvSpPr>
          <p:cNvPr id="86" name="Text 83"/>
          <p:cNvSpPr txBox="1"/>
          <p:nvPr/>
        </p:nvSpPr>
        <p:spPr>
          <a:xfrm>
            <a:off x="548640" y="43891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ОСС (≥ 2/3 голосов) и проект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Геодезическая съёмка и согласования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Подрядчик, техника, материалы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 недель (подготовка + работы)</a:t>
            </a:r>
            <a:endParaRPr lang="en-US" sz="1400" dirty="0"/>
          </a:p>
        </p:txBody>
      </p:sp>
      <p:sp>
        <p:nvSpPr>
          <p:cNvPr id="87" name="Text 84"/>
          <p:cNvSpPr txBox="1"/>
          <p:nvPr/>
        </p:nvSpPr>
        <p:spPr>
          <a:xfrm>
            <a:off x="630936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получится</a:t>
            </a:r>
            <a:endParaRPr lang="en-US" sz="1600" dirty="0"/>
          </a:p>
        </p:txBody>
      </p:sp>
      <p:sp>
        <p:nvSpPr>
          <p:cNvPr id="88" name="Text 85"/>
          <p:cNvSpPr txBox="1"/>
          <p:nvPr/>
        </p:nvSpPr>
        <p:spPr>
          <a:xfrm>
            <a:off x="6309360" y="43891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+171 новых мест в 6 зонах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Шлагбаумы на двух въездах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проезд для скорой и пожарной техники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Освещение, водоотвод, разметка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Компенсационное озеленение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Техника и механизмы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914400"/>
                <a:gridCol w="1005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Экскаватор-погрузчик JCB 3CX (с машинистом)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маш.-ч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Самосвал КАМАЗ 65115 (вывоз грунта 1391 м³)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Каток дорожный 6 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маш.-ч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Асфальтоукладчик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маш.-ч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Виброплита, 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техника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1 681 700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371600"/>
            <a:ext cx="3017520" cy="2194560"/>
          </a:xfrm>
          <a:prstGeom prst="roundRect">
            <a:avLst>
              <a:gd name="adj" fmla="val 5000"/>
            </a:avLst>
          </a:prstGeom>
          <a:solidFill>
            <a:srgbClr val="2628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7824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1 681 700 ₽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техники с операторами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Расчётные значения: объёмы — по площади со схемы, цены — средние рыночные для СПб, 2026 г.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Расчёт заработной платы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"/>
                <a:gridCol w="822960"/>
                <a:gridCol w="146304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Должность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Чел.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Ставка ₽/день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Прораб (весь срок, 11 недель)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Дорожные рабочие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Разнорабочие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Электромонтажник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Фонд оплаты труда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1 274 500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Страховые взносы 30 %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382 350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зарплата с взносами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2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1 656 850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20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5953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= численность × дни × дневная ставка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Взносы = ФОТ × 30 %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Бригада: 11 человек.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Прораб ведёт объект весь срок — 11 недель = 55 рабочих дней (подготовка, согласования, работы, приёмка). Рабочие заняты только на стройке — 7 недель.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Расчётные значения: объёмы — по площади со схемы, цены — средние рыночные для СПб, 2026 г.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Смета проекта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Материалы и работы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Сумма,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Демонтаж газона 2140 м², выемка грунта 1391 м³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1 032 550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Геотекстиль 2140 м², песок 642 м³, щебень 535 м³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2 482 400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Асфальтобетон в 2 слоя, 2140 м²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2 675 000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Бордюр БР 100.30.15 с установкой, 700 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Водоотвод: лотки 140 м + 4 дождеприёмника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Освещение: 10 опор LED с кабелем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Разметка 171 мест (термопластик) + знаки МГН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шлагбаума с GSM (въезды с Малого пр. и с Галерного пр.) + монтаж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Компенсационное озеленение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Геодезия, проект и согласования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и работы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8 951 350 ₽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1 681 700 ₽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с взносами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1 656 850 ₽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Непредвиденные 5 %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614 495 ₽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0" y="37033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2628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0100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ПО СМЕТЕ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160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12 904 395 ₽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5257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32 261 ₽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квартиры (400 кв.) или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75 464 ₽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одно новое место.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Расчётные значения: объёмы — по площади со схемы, цены — средние рыночные для СПб, 2026 г.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Сроки выполнения работ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155680" y="365760"/>
            <a:ext cx="594360" cy="59436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78335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78335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01789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01789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5244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5244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48698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48698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72153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72153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95607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95607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19062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19062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42516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42516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65971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65971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89425" y="1280160"/>
            <a:ext cx="62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89425" y="1691640"/>
            <a:ext cx="0" cy="3840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ОСС, геодезия, проект, согласования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856232"/>
            <a:ext cx="2493818" cy="329184"/>
          </a:xfrm>
          <a:prstGeom prst="roundRect">
            <a:avLst>
              <a:gd name="adj" fmla="val 22222"/>
            </a:avLst>
          </a:prstGeom>
          <a:solidFill>
            <a:srgbClr val="9CA3A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23682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Демонтаж газона, земляные работы, вывоз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48698" y="244144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2C2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2953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Основание: песок, щебень, бордюр, водоотвод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46225" y="3026664"/>
            <a:ext cx="1620982" cy="329184"/>
          </a:xfrm>
          <a:prstGeom prst="roundRect">
            <a:avLst>
              <a:gd name="adj" fmla="val 22222"/>
            </a:avLst>
          </a:prstGeom>
          <a:solidFill>
            <a:srgbClr val="F2C2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3538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Асфальтирование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67207" y="3611880"/>
            <a:ext cx="748145" cy="329184"/>
          </a:xfrm>
          <a:prstGeom prst="roundRect">
            <a:avLst>
              <a:gd name="adj" fmla="val 22222"/>
            </a:avLst>
          </a:prstGeom>
          <a:solidFill>
            <a:srgbClr val="F2C2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1239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Шлагбаумы и освещение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742516" y="4197096"/>
            <a:ext cx="997527" cy="329184"/>
          </a:xfrm>
          <a:prstGeom prst="roundRect">
            <a:avLst>
              <a:gd name="adj" fmla="val 22222"/>
            </a:avLst>
          </a:prstGeom>
          <a:solidFill>
            <a:srgbClr val="F2C2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4709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Разметка, озеленение, приёмка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740044" y="4782312"/>
            <a:ext cx="872836" cy="329184"/>
          </a:xfrm>
          <a:prstGeom prst="roundRect">
            <a:avLst>
              <a:gd name="adj" fmla="val 22222"/>
            </a:avLst>
          </a:prstGeom>
          <a:solidFill>
            <a:srgbClr val="F2C2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— 4 недели; строительство — 7 недель (35 рабочих дней), по зонам. Работы с 8:00 до 20:00, проезд во дворе перекрывается частично.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Выполнение задач и итог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82E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1 выполнена.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 обследован по снимкам и панорамам Яндекс Карт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502920" cy="50292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82E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391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2 выполнена.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Размещено 171 новых мест в 6 зонах двора (≈ 2 140 м²)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502920" cy="50292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52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82E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523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3 выполнена.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Спроектировано покрытие: основание + асфальт в 2 слоя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502920" cy="50292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82E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655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4 выполнена.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Шлагбаумы на въездах, освещение, водоотвод, места для МГН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78808"/>
            <a:ext cx="502920" cy="502920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82E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78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5 выполнена.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Рассчитаны смета, ЗП, техника и график — 11 недель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2801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+171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560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парковочных мест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12 904 395 ₽  ·  11 недель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0233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достигнута: +171 мест, въезд под контролем шлагбаума.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rigrushek/parking/img/yard_facad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82E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2377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5184648" y="3794760"/>
            <a:ext cx="1828800" cy="73152"/>
          </a:xfrm>
          <a:prstGeom prst="rect">
            <a:avLst/>
          </a:prstGeom>
          <a:solidFill>
            <a:srgbClr val="F2C2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ул. Нахимова, д. 20  ·  +171 парковочных мест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2026-10-01T08:42:52Z</dcterms:created>
  <dcterms:modified xsi:type="dcterms:W3CDTF">2026-10-01T08:42:52Z</dcterms:modified>
</cp:coreProperties>
</file>